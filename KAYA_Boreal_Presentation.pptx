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BORÉAL ASSURANCES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Entrepôt de Données &amp; Dashboard Décisionnel</a:t>
            </a:r>
          </a:p>
          <a:p>
            <a:pPr>
              <a:defRPr sz="2000">
                <a:solidFill>
                  <a:srgbClr val="64748B"/>
                </a:solidFill>
              </a:defRPr>
            </a:pPr>
            <a:r>
              <a:t>Soutenance du Projet Boréal</a:t>
            </a:r>
          </a:p>
          <a:p>
            <a:br/>
            <a:pPr>
              <a:defRPr sz="1400">
                <a:solidFill>
                  <a:srgbClr val="FFFFFF"/>
                </a:solidFill>
              </a:defRPr>
            </a:pPr>
            <a:r>
              <a:t>Présenté par : Christe Celina KAYA MAXIME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BORÉAL ASSURANCES — SOUTENANCE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Contexte &amp; Enjeux Business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EEF2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Problématique</a:t>
            </a:r>
          </a:p>
          <a:p>
            <a:br/>
            <a:pPr>
              <a:defRPr sz="1300">
                <a:solidFill>
                  <a:srgbClr val="1E293B"/>
                </a:solidFill>
              </a:defRPr>
            </a:pPr>
            <a:r>
              <a:t>• Multiplicité des sources (CRM, Contrats, Sinistres, 64 Règlements).</a:t>
            </a:r>
            <a:br/>
            <a:r>
              <a:t>• Présence d'anomalies de saisie (primes &lt;= 0, incohérences de dates).</a:t>
            </a:r>
            <a:br/>
            <a:r>
              <a:t>• Reporting manuel lourd et risqué.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645920"/>
            <a:ext cx="3291840" cy="4572000"/>
          </a:xfrm>
          <a:prstGeom prst="roundRect">
            <a:avLst/>
          </a:prstGeom>
          <a:solidFill>
            <a:srgbClr val="EEF2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Objectifs Techniques</a:t>
            </a:r>
          </a:p>
          <a:p>
            <a:br/>
            <a:pPr>
              <a:defRPr sz="1300">
                <a:solidFill>
                  <a:srgbClr val="1E293B"/>
                </a:solidFill>
              </a:defRPr>
            </a:pPr>
            <a:r>
              <a:t>• Unifier les flux dans DuckDB (Architecture Médaillon).</a:t>
            </a:r>
            <a:br/>
            <a:r>
              <a:t>• Automatiser les contrôles qualité (Quarantaine R01-R15).</a:t>
            </a:r>
            <a:br/>
            <a:r>
              <a:t>• Reconstitution instantanée et reproductible du DWH.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1645920"/>
            <a:ext cx="3291840" cy="4572000"/>
          </a:xfrm>
          <a:prstGeom prst="roundRect">
            <a:avLst/>
          </a:prstGeom>
          <a:solidFill>
            <a:srgbClr val="EEF2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Impact Business</a:t>
            </a:r>
          </a:p>
          <a:p>
            <a:br/>
            <a:pPr>
              <a:defRPr sz="1300">
                <a:solidFill>
                  <a:srgbClr val="1E293B"/>
                </a:solidFill>
              </a:defRPr>
            </a:pPr>
            <a:r>
              <a:t>• Vision 360° du portefeuille et du ratio S/P.</a:t>
            </a:r>
            <a:br/>
            <a:r>
              <a:t>• Identification des clients clés (Analyse de Pareto).</a:t>
            </a:r>
            <a:br/>
            <a:r>
              <a:t>• Dashboard interactif Streamlit pour le pilotage.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BORÉAL ASSURANCES — SOUTENANCE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Architecture Médaillon sous DuckDB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🟤 Couche RAW  —  Ingestion Brute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Stockage des fichiers sources CSV &amp; Parquet.</a:t>
            </a:r>
            <a:br/>
            <a:r>
              <a:t>• Conservation de l'historique sans altération.</a:t>
            </a:r>
            <a:br/>
            <a:r>
              <a:t>• Ingestion rapide de 64 fichiers de règlements.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108960"/>
            <a:ext cx="10728655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⚪ Couche PREP  —  Qualité &amp; Nettoyage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Application dynamique des règles R01 à R15.</a:t>
            </a:r>
            <a:br/>
            <a:r>
              <a:t>• Isolation automatique en table prep.quarantaine.</a:t>
            </a:r>
            <a:br/>
            <a:r>
              <a:t>• Typage fort et dédoublonnage.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754880"/>
            <a:ext cx="10728655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🟡 Couche DWH  —  Modèle en Étoile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Schéma dimensionnel de Kimball.</a:t>
            </a:r>
            <a:br/>
            <a:r>
              <a:t>• Table de faits (contrats, sinistres, règlements).</a:t>
            </a:r>
            <a:br/>
            <a:r>
              <a:t>• Clés substitutives (SK) et performances DuckDB.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BORÉAL ASSURANCES — SOUTENANCE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Contrôle Qualité &amp; Bilan Quarantaine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4864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Règles de Validation (R01 à R15)</a:t>
            </a:r>
          </a:p>
          <a:p>
            <a:br/>
            <a:pPr>
              <a:defRPr sz="1300">
                <a:solidFill>
                  <a:srgbClr val="1E293B"/>
                </a:solidFill>
              </a:defRPr>
            </a:pPr>
            <a:r>
              <a:t>• R05 : Primes annuelles &lt;= 0€ (Rejeté)</a:t>
            </a:r>
            <a:br/>
            <a:r>
              <a:t>• R06 : Date résiliation &lt; Date effet</a:t>
            </a:r>
            <a:br/>
            <a:r>
              <a:t>• R10 : Date déclaration &lt; Date survenance</a:t>
            </a:r>
            <a:br/>
            <a:r>
              <a:t>• R11/R15 : Sinistres ou règlements orphelins (sans contrat)</a:t>
            </a:r>
            <a:br/>
            <a:br/>
            <a:r>
              <a:t>--&gt; Mécanisme non bloquant : Le pipeline continue d'alimenter le DWH avec les lignes valides.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463040"/>
            <a:ext cx="4876495" cy="4754880"/>
          </a:xfrm>
          <a:prstGeom prst="roundRect">
            <a:avLst/>
          </a:prstGeom>
          <a:solidFill>
            <a:srgbClr val="EEF2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Bilan du Dernier Execution</a:t>
            </a:r>
          </a:p>
          <a:p>
            <a:br/>
            <a:pPr>
              <a:defRPr sz="2800" b="1">
                <a:solidFill>
                  <a:srgbClr val="2563EB"/>
                </a:solidFill>
              </a:defRPr>
            </a:pPr>
            <a:r>
              <a:t>87 Lignes en Quarantaine</a:t>
            </a:r>
          </a:p>
          <a:p>
            <a:br/>
            <a:pPr>
              <a:defRPr sz="1300">
                <a:solidFill>
                  <a:srgbClr val="1E293B"/>
                </a:solidFill>
              </a:defRPr>
            </a:pPr>
            <a:r>
              <a:t>- R05 (Primes invalides) : 25 lignes</a:t>
            </a:r>
            <a:br/>
            <a:r>
              <a:t>- R15 (Règlements orphelins) : 22 lignes</a:t>
            </a:r>
            <a:br/>
            <a:r>
              <a:t>- R06 (Dates contrats) : 20 lignes</a:t>
            </a:r>
            <a:br/>
            <a:r>
              <a:t>- R10 (Dates sinistres) : 15 lignes</a:t>
            </a:r>
            <a:br/>
            <a:r>
              <a:t>- R11 (Sinistres orphelins) : 5 lignes</a:t>
            </a:r>
            <a:br/>
            <a:br/>
            <a:r>
              <a:t>Conformité Globale : 99.4%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BORÉAL ASSURANCES — SOUTENANCE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4. Démonstration Live : Pipeline ETL Orchestré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1600">
                <a:solidFill>
                  <a:srgbClr val="10B981"/>
                </a:solidFill>
              </a:defRPr>
            </a:pPr>
            <a:r>
              <a:t>&gt; Executing Live Demonstration in Terminal...</a:t>
            </a:r>
          </a:p>
          <a:p>
            <a:br/>
            <a:pPr>
              <a:defRPr sz="2200" b="1">
                <a:solidFill>
                  <a:srgbClr val="FFFFFF"/>
                </a:solidFill>
              </a:defRPr>
            </a:pPr>
            <a:r>
              <a:t>Commande exécutée :</a:t>
            </a:r>
            <a:br/>
            <a:r>
              <a:t>python scripts/run_pipeline.py</a:t>
            </a:r>
          </a:p>
          <a:p>
            <a:br/>
            <a:pPr>
              <a:defRPr sz="1500">
                <a:solidFill>
                  <a:srgbClr val="E2E8F0"/>
                </a:solidFill>
              </a:defRPr>
            </a:pPr>
            <a:r>
              <a:t>Étape 1 : Ingestion Raw (01_ingest_raw.py) --&gt; [OK]</a:t>
            </a:r>
            <a:br/>
            <a:r>
              <a:t>Étape 2 : Qualité &amp; Quarantaine (02_quality_prep.py) --&gt; 87 isolés</a:t>
            </a:r>
            <a:br/>
            <a:r>
              <a:t>Étape 3 : Alimentation DWH (02_schema.py) --&gt; 20 109 faits contrats</a:t>
            </a:r>
            <a:br/>
            <a:r>
              <a:t>Étape 4 : Génération Pareto (04_valeur_clients.py) --&gt; Graphique généré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BORÉAL ASSURANCES — SOUTENANCE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5. Démonstration Live : Dashboard Streamlit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📊 Page 1 : Portefeuille</a:t>
            </a:r>
          </a:p>
          <a:p>
            <a:br/>
            <a:pPr>
              <a:defRPr sz="1300">
                <a:solidFill>
                  <a:srgbClr val="1E293B"/>
                </a:solidFill>
              </a:defRPr>
            </a:pPr>
            <a:r>
              <a:t>• KPIs stratégiques (Primes, Sinistres, S/P Global).</a:t>
            </a:r>
            <a:br/>
            <a:r>
              <a:t>• Distribution géographique et démographique.</a:t>
            </a:r>
            <a:br/>
            <a:r>
              <a:t>• Évolution temporelle des souscriptions.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645920"/>
            <a:ext cx="329184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📈 Page 2 : Analyse Technique</a:t>
            </a:r>
          </a:p>
          <a:p>
            <a:br/>
            <a:pPr>
              <a:defRPr sz="1300">
                <a:solidFill>
                  <a:srgbClr val="1E293B"/>
                </a:solidFill>
              </a:defRPr>
            </a:pPr>
            <a:r>
              <a:t>• Courbe de Pareto (Concentration de la valeur Top 10%).</a:t>
            </a:r>
            <a:br/>
            <a:r>
              <a:t>• Matrice de rétention par cohorte.</a:t>
            </a:r>
            <a:br/>
            <a:r>
              <a:t>• Ratios S/P par tranche d'âge et garanties.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1645920"/>
            <a:ext cx="329184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⚙️ Page 3 : Exploitation</a:t>
            </a:r>
          </a:p>
          <a:p>
            <a:br/>
            <a:pPr>
              <a:defRPr sz="1300">
                <a:solidFill>
                  <a:srgbClr val="1E293B"/>
                </a:solidFill>
              </a:defRPr>
            </a:pPr>
            <a:r>
              <a:t>• Fraîcheur des données dynamiques (J-0).</a:t>
            </a:r>
            <a:br/>
            <a:r>
              <a:t>• Suivi des volumes par couche (Raw/Prep/DWH).</a:t>
            </a:r>
            <a:br/>
            <a:r>
              <a:t>• Audit en direct des lignes en quarantaine.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CONCLUSION &amp; PERSPECTIVES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Projet Intégrateur Boréal Assurances Finalisé avec Succès</a:t>
            </a:r>
          </a:p>
          <a:p>
            <a:br/>
            <a:pPr>
              <a:defRPr sz="1600">
                <a:solidFill>
                  <a:srgbClr val="E2E8F0"/>
                </a:solidFill>
              </a:defRPr>
            </a:pPr>
            <a:r>
              <a:t>Recommandations Métier :</a:t>
            </a:r>
            <a:br/>
            <a:r>
              <a:t>1. Réajustement tarifaire sur les segments à fort ratio S/P (jeunes conducteurs).</a:t>
            </a:r>
            <a:br/>
            <a:r>
              <a:t>2. Politiques de fidélisation ciblées sur le Top 10% des clients rentables (Pareto).</a:t>
            </a:r>
            <a:br/>
            <a:br/>
            <a:r>
              <a:t>Merci de votre attention ! Place aux questions / réponses (10 min).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